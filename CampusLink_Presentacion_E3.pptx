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Buenas, somos el equipo de CampusLink del curso de Pruebas de Software. Hoy les presentamos la Entrega 3, donde sumamos pruebas de interfaz E2E con Playwright y las dejamos corriendo automaticamente dentro de nuestro pipeline. [Expositor: Matías]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José] El problema que atacamos: las oportunidades académicas —tutorias, ayudantias, practicas— viven dispersas en correos y grupos de WhatsApp, y se pierden. CampusLink las centraliza: quien publica lo hace con requisitos y fecha limite, y el estudiante busca, filtra y postula desde un solo lugar.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José] Seguimos la misma metodologia de las entregas anteriores: Kanban en Jira con historias estimadas, Git Flow con ramas por feature y PRs, y Discord para comunicarnos. La novedad transversal es que todo cambio pasa por CI en GitHub Actions. Vamos avanzando por entregas: hoy cerramos la E3 con E2E.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Leonardo] Qué construimos y sobre qué tecnologías corre. Hacer un pase natural desde quien venia hablando antes de entrar a esta seccion.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Leonardo] Estos son los requisitos que cubrimos. A la izquierda los funcionales, con el CRUD y el control de acceso por roles como nucleo. A la derecha los no funcionales: API REST stateless, validacion de entradas y, clave para este curso, CI automatizado y deploy continuo.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Leonardo] La Entrega 1 era un MVP. En E2 y E3 la app crecio bastante: anadimos roles y un modulo de administracion, notificaciones, favoritos, gestion de postulantes con feedback, chat, y una maquina de estados. Todo esto tambien amplio la base de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Leonardo] El flujo tipico: el usuario se registra, ve el listado, filtra, entra al detalle y postula o crea una oportunidad. Cada accion del frontend mapea a un endpoint REST del backend; aqui ven esa correspondencia directa.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Leonardo] La arquitectura tiene tres piezas: el frontend React en Vercel, el backend NestJS en Railway con el patron Controller-Service-Repository, y PostgreSQL. Todo es un monorepo con npm workspaces, lo que deja compartir tipos entre front y back, y CI en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Aarón] El corazón de la Entrega 3: del unit test al E2E automatizado. Hacer un pase natural desde quien venia hablando antes de entrar a esta seccion.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Aarón] Nuestra estrategia combina niveles. Probamos la logica de los servicios en el backend, los componentes y la capa de API en el frontend, y ahora los flujos completos con E2E. Aplicamos caja negra, particion de equivalencia, valores limite y mocking. En total 276 pruebas, todas en verde: crecimos desde las 192 de la primera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Aarón] Para las unitarias usamos Jest, en back y front. Nos da runner, aserciones y mocks en un solo lugar. En el backend mockeamos los repositorios de TypeORM para aislar la logica de negocio. Todo corre en CI en cada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Aarón] La estrella de esta entrega es Playwright. Maneja un navegador real headless y simula al usuario de punta a punta. El enunciado proponia Selenium por defecto, pero elegimos Playwright porque es del mismo ecosistema JS/TS, tiene headless nativo y trae reportes, trazas y screenshots integrados. Su auto-waiting nos evito muchos tests intermitentes.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Aarón] 17 pruebas E2E que cubren los flujos criticos de usuario final: autenticacion, el CRUD completo, busqueda y filtros, los guards de navegacion y la postulacion. El enunciado pedia al menos 10, asi que estamos holgados y enfocados en lo que de verdad importa al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Aarón] Asi se integra todo. Ante cada push o PR se disparan cinco jobs encadenados: builds, unitarias con PostgreSQL real, las E2E de Playwright —que levantan la app completa— y una notificacion a Discord. Si una E2E falla, el pipeline se marca en rojo. La evidencia queda como artefacto descargable y con screenshots de fallos.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Matías] El sistema funcionando y las pruebas en acción. Hacer un pase natural desde quien venia hablando antes de entrar a esta seccion.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Matías] DEMO EN VIVO — Registro e inicio de sesión. Narrar mientras se navega, explicando el porque de cada accion (no solo los clics). Pasos: Mostrar el registro con validaciones (email inválido, campo vacío) | Iniciar sesión con un usuario preconfigurado | El JWT se guarda y acompaña a cada petición. Tener captura de respaldo por si falla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Matías] DEMO EN VIVO — Explorar, buscar y filtrar. Narrar mientras se navega, explicando el porque de cada accion (no solo los clics). Pasos: Listado con oportunidades ya cargadas (no vacío) | Filtrar por tipo: seleccionar 'TUTORIA' | Buscar por texto: escribir 'matemáticas' | Botones Editar/Eliminar solo en cards propias. Tener captura de respaldo por si falla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Matías] DEMO EN VIVO — Crear una nueva oportunidad. Narrar mientras se navega, explicando el porque de cada accion (no solo los clics). Pasos: Completar el formulario con datos realistas | Mostrar la validación de campos obligatorios | Guardar y ver que aparece en el listado. Tener captura de respaldo por si falla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Matías] DEMO EN VIVO — Funcionalidades nuevas (E2/E3). Narrar mientras se navega, explicando el porque de cada accion (no solo los clics). Pasos: Postular y ver la notificación generada | Guardar una oportunidad en favoritos | Gestionar postulantes y dejar feedback | Vista de administración (suspender / bloquear). Tener captura de respaldo por si falla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Matías] DEMO EN VIVO — Las pruebas E2E en acción. Narrar mientras se navega, explicando el porque de cada accion (no solo los clics). Pasos: Ejecutar 'npx playwright test' en la terminal | Ver los 17 tests corriendo en headless | Abrir el reporte HTML de Playwright | Mostrar un trace de una ejecución. Tener captura de respaldo por si falla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Matías] DEMO EN VIVO — El pipeline y la notificación. Narrar mientras se navega, explicando el porque de cada accion (no solo los clics). Pasos: Mostrar el run en GitHub Actions en verde | Descargar el artefacto del reporte E2E | Mostrar el mensaje de estado en Discord | Plan B: capturas de respaldo por si falla la red. Tener captura de respaldo por si falla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José] Lo aprendido, las dificultades y las decisiones clave. Hacer un pase natural desde quien venia hablando antes de entrar a esta seccion.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José] Reflexionando: lo mas valioso fue comprobar que el E2E atrapa errores que el unitario jamas veria, porque prueba la app completa. La mayor dificultad fue estabilizar app, base y navegador dentro de CI. Y nuestras decisiones clave —que defendemos— fueron Playwright sobre Selenium, GitHub Actions sobre Jenkins, y Discord para las notificaciones.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José] Un ejemplo concreto, muy del espiritu del curso: el pipeline daba rojo pero en local todo pasaba. El chequeo de 'backend listo' apuntaba a una ruta que devolvia 404, y la herramienta solo daba por listo un 200. El backend estaba sano; el chequeo estaba mal. Lo corregimos apuntando a un endpoint real. Moraleja: la infraestructura de pruebas tambien se prueba y depura.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José] Hacia adelante: ampliar la cobertura E2E a admin, notificaciones y chat, correr en mas navegadores, sumar regresion visual y automatizar el despliegue cuando el pipeline queda verde. La base ya esta; ahora es escalarla.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[Habla: José] Cierre. Con esto damos por finalizada la presentacion y abrimos la ronda de preguntas. Gracias por su atencion.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3A5F"/>
            </a:gs>
            <a:gs pos="100000">
              <a:srgbClr val="0F2440"/>
            </a:gs>
          </a:gsLst>
          <a:lin ang="36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-1828800"/>
            <a:ext cx="6217920" cy="6217920"/>
          </a:xfrm>
          <a:prstGeom prst="ellipse">
            <a:avLst/>
          </a:prstGeom>
          <a:solidFill>
            <a:srgbClr val="2EC4B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023360"/>
            <a:ext cx="3474720" cy="3474720"/>
          </a:xfrm>
          <a:prstGeom prst="ellipse">
            <a:avLst/>
          </a:prstGeom>
          <a:solidFill>
            <a:srgbClr val="2EC4B6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1E4F7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5800" b="1">
                <a:solidFill>
                  <a:srgbClr val="FFFFFF"/>
                </a:solidFill>
                <a:latin typeface="Calibri"/>
              </a:rPr>
              <a:t>CampusLink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2EC4B6"/>
                </a:solidFill>
                <a:latin typeface="Calibri"/>
              </a:rPr>
              <a:t>Plataforma de Oportunidades Universitarias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43400"/>
            <a:ext cx="7863840" cy="1554480"/>
          </a:xfrm>
          <a:prstGeom prst="roundRect">
            <a:avLst/>
          </a:prstGeom>
          <a:solidFill>
            <a:srgbClr val="0F2440">
              <a:alpha val="55000"/>
            </a:srgbClr>
          </a:solidFill>
          <a:ln>
            <a:noFill/>
          </a:ln>
          <a:effectLst>
            <a:outerShdw blurRad="152400" dist="50800" dir="5400000" rotWithShape="0">
              <a:srgbClr val="0F244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526280"/>
            <a:ext cx="7315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INF331 – Pruebas de Software   ·   Entrega 3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EC4B6"/>
                </a:solidFill>
                <a:latin typeface="Calibri"/>
              </a:rPr>
              <a:t>Pruebas E2E/UI con Playwright integradas al pipeline CI/CD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C4E0"/>
                </a:solidFill>
                <a:latin typeface="Calibri"/>
              </a:rPr>
              <a:t>José Meza · Matías Barraza · Leonardo Chacón · Aarón Vargas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A8C4E0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A8C4E0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CONTEXTO Y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¿Qué resuelve CampusLink?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3492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349240" cy="118872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spc="150">
                <a:solidFill>
                  <a:srgbClr val="1A9A8E"/>
                </a:solidFill>
                <a:latin typeface="Calibri"/>
              </a:rPr>
              <a:t>EL PROBLEMA</a:t>
            </a:r>
          </a:p>
          <a:p>
            <a:pPr algn="l">
              <a:spcAft>
                <a:spcPts val="11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•  Las oportunidades académicas están dispersas</a:t>
            </a:r>
          </a:p>
          <a:p>
            <a:pPr algn="l">
              <a:spcAft>
                <a:spcPts val="11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•  Correos, grupos de WhatsApp, murales físicos</a:t>
            </a:r>
          </a:p>
          <a:p>
            <a:pPr algn="l">
              <a:spcAft>
                <a:spcPts val="11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•  Se pierden oportunidades por falta de difusión</a:t>
            </a:r>
          </a:p>
          <a:p>
            <a:pPr algn="l">
              <a:spcAft>
                <a:spcPts val="11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•  Desconexión entre quien publica y quien postula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148072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148072" cy="118872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spc="150">
                <a:solidFill>
                  <a:srgbClr val="1A9A8E"/>
                </a:solidFill>
                <a:latin typeface="Calibri"/>
              </a:rPr>
              <a:t>LA SOLUCIÓN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•  Centraliza las oportunidades en una sola plataforma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•  Publicar con detalle, requisitos y fecha límite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•  Buscar y filtrar por tipo de oportunidad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•  Postular y seguir el estado de cada postulación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•  Gestionar perfil e historial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CONTEXTO Y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¿Cómo nos organizamos?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Metodología iterativa por entregas: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•  </a:t>
            </a:r>
            <a:r>
              <a:rPr sz="1500" b="0">
                <a:solidFill>
                  <a:srgbClr val="64748B"/>
                </a:solidFill>
                <a:latin typeface="Calibri"/>
              </a:rPr>
              <a:t>E1: CRUD + autenticación + pruebas unitarias (Jest)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•  </a:t>
            </a:r>
            <a:r>
              <a:rPr sz="1500" b="0">
                <a:solidFill>
                  <a:srgbClr val="64748B"/>
                </a:solidFill>
                <a:latin typeface="Calibri"/>
              </a:rPr>
              <a:t>E2: pipeline CI/CD + 2 nuevos requisitos funcionales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•  </a:t>
            </a:r>
            <a:r>
              <a:rPr sz="1500" b="0">
                <a:solidFill>
                  <a:srgbClr val="64748B"/>
                </a:solidFill>
                <a:latin typeface="Calibri"/>
              </a:rPr>
              <a:t>E3: pruebas E2E/UI con Playwright integradas al pipeline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Jira — tablero Kanban con issues priorizados y estimados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Git Flow — ramas por feature y Pull Requests hacia main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Discord — comunicación del equipo y alertas del pipeline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GitHub Actions — CI automático en cada push / 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3A5F"/>
            </a:gs>
            <a:gs pos="100000">
              <a:srgbClr val="0F2440"/>
            </a:gs>
          </a:gsLst>
          <a:lin ang="33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463040"/>
            <a:ext cx="5120640" cy="5120640"/>
          </a:xfrm>
          <a:prstGeom prst="ellipse">
            <a:avLst/>
          </a:prstGeom>
          <a:solidFill>
            <a:srgbClr val="2EC4B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297680"/>
            <a:ext cx="3108960" cy="3108960"/>
          </a:xfrm>
          <a:prstGeom prst="ellipse">
            <a:avLst/>
          </a:prstGeom>
          <a:solidFill>
            <a:srgbClr val="2EC4B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023360"/>
            <a:ext cx="3291840" cy="3291840"/>
          </a:xfrm>
          <a:prstGeom prst="ellipse">
            <a:avLst/>
          </a:prstGeom>
          <a:solidFill>
            <a:srgbClr val="1E4F7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5486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0" b="1">
                <a:solidFill>
                  <a:srgbClr val="1E4F7A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00400"/>
            <a:ext cx="1737360" cy="12801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Funcionalidades y arquitectura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A8C4E0"/>
                </a:solidFill>
                <a:latin typeface="Calibri"/>
              </a:rPr>
              <a:t>Qué construimos y sobre qué tecnologías corre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A8C4E0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A8C4E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FUNCIONALIDADES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Requisitos funcionales y no funcionales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3492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349240" cy="118872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 spc="150">
                <a:solidFill>
                  <a:srgbClr val="1A9A8E"/>
                </a:solidFill>
                <a:latin typeface="Calibri"/>
              </a:rPr>
              <a:t>FUNCIONALES</a:t>
            </a:r>
          </a:p>
          <a:p>
            <a:pPr algn="l">
              <a:spcAft>
                <a:spcPts val="85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•  Registro e inicio de sesión con JWT</a:t>
            </a:r>
          </a:p>
          <a:p>
            <a:pPr algn="l">
              <a:spcAft>
                <a:spcPts val="85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•  CRUD completo de oportunidades</a:t>
            </a:r>
          </a:p>
          <a:p>
            <a:pPr algn="l">
              <a:spcAft>
                <a:spcPts val="85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•  Búsqueda y filtrado por tipo / texto</a:t>
            </a:r>
          </a:p>
          <a:p>
            <a:pPr algn="l">
              <a:spcAft>
                <a:spcPts val="85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•  Postulación e historial por usuario</a:t>
            </a:r>
          </a:p>
          <a:p>
            <a:pPr algn="l">
              <a:spcAft>
                <a:spcPts val="85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•  Control de acceso basado en roles (RBAC)</a:t>
            </a:r>
          </a:p>
          <a:p>
            <a:pPr algn="l">
              <a:spcAft>
                <a:spcPts val="85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•  Perfil de usuario con estadísticas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148072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148072" cy="118872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 spc="150">
                <a:solidFill>
                  <a:srgbClr val="1A9A8E"/>
                </a:solidFill>
                <a:latin typeface="Calibri"/>
              </a:rPr>
              <a:t>NO FUNCIONALES</a:t>
            </a:r>
          </a:p>
          <a:p>
            <a:pPr algn="l">
              <a:spcAft>
                <a:spcPts val="85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•  API REST con prefijo /api</a:t>
            </a:r>
          </a:p>
          <a:p>
            <a:pPr algn="l">
              <a:spcAft>
                <a:spcPts val="85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•  Autenticación stateless (JWT)</a:t>
            </a:r>
          </a:p>
          <a:p>
            <a:pPr algn="l">
              <a:spcAft>
                <a:spcPts val="85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•  Validación de entradas (class-validator)</a:t>
            </a:r>
          </a:p>
          <a:p>
            <a:pPr algn="l">
              <a:spcAft>
                <a:spcPts val="85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•  Diseño responsive (PC y celular)</a:t>
            </a:r>
          </a:p>
          <a:p>
            <a:pPr algn="l">
              <a:spcAft>
                <a:spcPts val="85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•  Deploy continuo (Vercel + Railway)</a:t>
            </a:r>
          </a:p>
          <a:p>
            <a:pPr algn="l">
              <a:spcAft>
                <a:spcPts val="85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•  CI automatizado con GitHub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LO NUEVO EN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Funcionalidades agregadas sobre el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Roles ampliados: ESTUDIANTE, DOCENTE, INSTITUCION, ADMIN</a:t>
            </a:r>
          </a:p>
          <a:p>
            <a:pPr algn="l">
              <a:spcAft>
                <a:spcPts val="85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Módulo de administración: suspender usuarios, bloquear oportunidades</a:t>
            </a:r>
          </a:p>
          <a:p>
            <a:pPr algn="l">
              <a:spcAft>
                <a:spcPts val="85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Sistema de notificaciones (resultado, feedback, modificaciones)</a:t>
            </a:r>
          </a:p>
          <a:p>
            <a:pPr algn="l">
              <a:spcAft>
                <a:spcPts val="85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Guardar oportunidades (favoritos)</a:t>
            </a:r>
          </a:p>
          <a:p>
            <a:pPr algn="l">
              <a:spcAft>
                <a:spcPts val="85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Gestión de postulantes + finalización del proceso + feedback</a:t>
            </a:r>
          </a:p>
          <a:p>
            <a:pPr algn="l">
              <a:spcAft>
                <a:spcPts val="85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Chat entre postulante y publicador</a:t>
            </a:r>
          </a:p>
          <a:p>
            <a:pPr algn="l">
              <a:spcAft>
                <a:spcPts val="85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Estados de oportunidad y postulación con transiciones automáticas</a:t>
            </a:r>
          </a:p>
          <a:p>
            <a:pPr algn="l">
              <a:spcAft>
                <a:spcPts val="85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Búsqueda insensible a acentos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Flujo de la aplicación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74519"/>
          <a:ext cx="10817352" cy="3447288"/>
        </p:xfrm>
        <a:graphic>
          <a:graphicData uri="http://schemas.openxmlformats.org/drawingml/2006/table">
            <a:tbl>
              <a:tblPr bandRow="0" firstRow="0">
                <a:tableStyleId>{5C22544A-7EE6-4342-B048-85BDC9FD1C3A}</a:tableStyleId>
              </a:tblPr>
              <a:tblGrid>
                <a:gridCol w="3017520"/>
                <a:gridCol w="3657600"/>
                <a:gridCol w="4142232"/>
              </a:tblGrid>
              <a:tr h="49246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Acción</a:t>
                      </a:r>
                    </a:p>
                  </a:txBody>
                  <a:tcPr anchor="ctr" marL="18288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Ruta Frontend</a:t>
                      </a:r>
                    </a:p>
                  </a:txBody>
                  <a:tcPr anchor="ctr" marL="18288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Endpoint Backend</a:t>
                      </a:r>
                    </a:p>
                  </a:txBody>
                  <a:tcPr anchor="ctr" marL="182880">
                    <a:solidFill>
                      <a:srgbClr val="1E3A5F"/>
                    </a:solidFill>
                  </a:tcPr>
                </a:tc>
              </a:tr>
              <a:tr h="49246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Listar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/opportunities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GET /api/opportunities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</a:tr>
              <a:tr h="49246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Ver detalle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/opportunities/:id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GET /api/opportunities/:id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</a:tr>
              <a:tr h="49246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Crear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/opportunities/new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POST /api/opportunities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</a:tr>
              <a:tr h="49246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Postular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Botón en detalle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POST /api/applications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</a:tr>
              <a:tr h="49246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Mis postulaciones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/profile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GET /api/applications/mine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</a:tr>
              <a:tr h="49247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Notificaciones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/notifications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GET /api/notifications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Arquitectura general 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520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520440" cy="713232"/>
          </a:xfrm>
          <a:prstGeom prst="roundRect">
            <a:avLst/>
          </a:prstGeom>
          <a:gradFill rotWithShape="1">
            <a:gsLst>
              <a:gs pos="0">
                <a:srgbClr val="1E4F7A"/>
              </a:gs>
              <a:gs pos="100000">
                <a:srgbClr val="1E3A5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FRONTEND — 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78892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>
                <a:solidFill>
                  <a:srgbClr val="2EC4B6"/>
                </a:solidFill>
                <a:latin typeface="Calibri"/>
              </a:rPr>
              <a:t>▸  </a:t>
            </a:r>
            <a:r>
              <a:rPr sz="1350">
                <a:solidFill>
                  <a:srgbClr val="1F2A37"/>
                </a:solidFill>
                <a:latin typeface="Calibri"/>
              </a:rPr>
              <a:t>React 19 + Vite 8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2EC4B6"/>
                </a:solidFill>
                <a:latin typeface="Calibri"/>
              </a:rPr>
              <a:t>▸  </a:t>
            </a:r>
            <a:r>
              <a:rPr sz="1350">
                <a:solidFill>
                  <a:srgbClr val="1F2A37"/>
                </a:solidFill>
                <a:latin typeface="Calibri"/>
              </a:rPr>
              <a:t>TypeScript + React Router v7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2EC4B6"/>
                </a:solidFill>
                <a:latin typeface="Calibri"/>
              </a:rPr>
              <a:t>▸  </a:t>
            </a:r>
            <a:r>
              <a:rPr sz="1350">
                <a:solidFill>
                  <a:srgbClr val="1F2A37"/>
                </a:solidFill>
                <a:latin typeface="Calibri"/>
              </a:rPr>
              <a:t>Axios → capa src/api/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2EC4B6"/>
                </a:solidFill>
                <a:latin typeface="Calibri"/>
              </a:rPr>
              <a:t>▸  </a:t>
            </a:r>
            <a:r>
              <a:rPr sz="1350">
                <a:solidFill>
                  <a:srgbClr val="1F2A37"/>
                </a:solidFill>
                <a:latin typeface="Calibri"/>
              </a:rPr>
              <a:t>Jest + Testing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74519"/>
            <a:ext cx="3520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874519"/>
            <a:ext cx="3520440" cy="713232"/>
          </a:xfrm>
          <a:prstGeom prst="roundRect">
            <a:avLst/>
          </a:prstGeom>
          <a:gradFill rotWithShape="1">
            <a:gsLst>
              <a:gs pos="0">
                <a:srgbClr val="1E4F7A"/>
              </a:gs>
              <a:gs pos="100000">
                <a:srgbClr val="1E3A5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BACKEND — Railway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78892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>
                <a:solidFill>
                  <a:srgbClr val="2EC4B6"/>
                </a:solidFill>
                <a:latin typeface="Calibri"/>
              </a:rPr>
              <a:t>▸  </a:t>
            </a:r>
            <a:r>
              <a:rPr sz="1350">
                <a:solidFill>
                  <a:srgbClr val="1F2A37"/>
                </a:solidFill>
                <a:latin typeface="Calibri"/>
              </a:rPr>
              <a:t>NestJS 11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2EC4B6"/>
                </a:solidFill>
                <a:latin typeface="Calibri"/>
              </a:rPr>
              <a:t>▸  </a:t>
            </a:r>
            <a:r>
              <a:rPr sz="1350">
                <a:solidFill>
                  <a:srgbClr val="1F2A37"/>
                </a:solidFill>
                <a:latin typeface="Calibri"/>
              </a:rPr>
              <a:t>Controller → Service → Repository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2EC4B6"/>
                </a:solidFill>
                <a:latin typeface="Calibri"/>
              </a:rPr>
              <a:t>▸  </a:t>
            </a:r>
            <a:r>
              <a:rPr sz="1350">
                <a:solidFill>
                  <a:srgbClr val="1F2A37"/>
                </a:solidFill>
                <a:latin typeface="Calibri"/>
              </a:rPr>
              <a:t>TypeORM + class-validator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2EC4B6"/>
                </a:solidFill>
                <a:latin typeface="Calibri"/>
              </a:rPr>
              <a:t>▸  </a:t>
            </a:r>
            <a:r>
              <a:rPr sz="1350">
                <a:solidFill>
                  <a:srgbClr val="1F2A37"/>
                </a:solidFill>
                <a:latin typeface="Calibri"/>
              </a:rPr>
              <a:t>JWT stateless · RBAC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874519"/>
            <a:ext cx="3520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5320" y="1874519"/>
            <a:ext cx="3520440" cy="713232"/>
          </a:xfrm>
          <a:prstGeom prst="roundRect">
            <a:avLst/>
          </a:prstGeom>
          <a:gradFill rotWithShape="1">
            <a:gsLst>
              <a:gs pos="0">
                <a:srgbClr val="1E4F7A"/>
              </a:gs>
              <a:gs pos="100000">
                <a:srgbClr val="1E3A5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DATOS E INFRA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278892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>
                <a:solidFill>
                  <a:srgbClr val="2EC4B6"/>
                </a:solidFill>
                <a:latin typeface="Calibri"/>
              </a:rPr>
              <a:t>▸  </a:t>
            </a:r>
            <a:r>
              <a:rPr sz="1350">
                <a:solidFill>
                  <a:srgbClr val="1F2A37"/>
                </a:solidFill>
                <a:latin typeface="Calibri"/>
              </a:rPr>
              <a:t>PostgreSQL 15 (Railway)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2EC4B6"/>
                </a:solidFill>
                <a:latin typeface="Calibri"/>
              </a:rPr>
              <a:t>▸  </a:t>
            </a:r>
            <a:r>
              <a:rPr sz="1350">
                <a:solidFill>
                  <a:srgbClr val="1F2A37"/>
                </a:solidFill>
                <a:latin typeface="Calibri"/>
              </a:rPr>
              <a:t>GitHub Actions (CI)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2EC4B6"/>
                </a:solidFill>
                <a:latin typeface="Calibri"/>
              </a:rPr>
              <a:t>▸  </a:t>
            </a:r>
            <a:r>
              <a:rPr sz="1350">
                <a:solidFill>
                  <a:srgbClr val="1F2A37"/>
                </a:solidFill>
                <a:latin typeface="Calibri"/>
              </a:rPr>
              <a:t>npm workspaces (monorepo)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2EC4B6"/>
                </a:solidFill>
                <a:latin typeface="Calibri"/>
              </a:rPr>
              <a:t>▸  </a:t>
            </a:r>
            <a:r>
              <a:rPr sz="1350">
                <a:solidFill>
                  <a:srgbClr val="1F2A37"/>
                </a:solidFill>
                <a:latin typeface="Calibri"/>
              </a:rPr>
              <a:t>Deploy continuo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3A5F"/>
            </a:gs>
            <a:gs pos="100000">
              <a:srgbClr val="0F2440"/>
            </a:gs>
          </a:gsLst>
          <a:lin ang="33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463040"/>
            <a:ext cx="5120640" cy="5120640"/>
          </a:xfrm>
          <a:prstGeom prst="ellipse">
            <a:avLst/>
          </a:prstGeom>
          <a:solidFill>
            <a:srgbClr val="2EC4B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297680"/>
            <a:ext cx="3108960" cy="3108960"/>
          </a:xfrm>
          <a:prstGeom prst="ellipse">
            <a:avLst/>
          </a:prstGeom>
          <a:solidFill>
            <a:srgbClr val="2EC4B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023360"/>
            <a:ext cx="3291840" cy="3291840"/>
          </a:xfrm>
          <a:prstGeom prst="ellipse">
            <a:avLst/>
          </a:prstGeom>
          <a:solidFill>
            <a:srgbClr val="1E4F7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5486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0" b="1">
                <a:solidFill>
                  <a:srgbClr val="1E4F7A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00400"/>
            <a:ext cx="1737360" cy="12801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Estrategia de pruebas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A8C4E0"/>
                </a:solidFill>
                <a:latin typeface="Calibri"/>
              </a:rPr>
              <a:t>El corazón de la Entrega 3: del unit test al E2E automatizado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A8C4E0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A8C4E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ESTRATEGIA DE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¿Qué probamos y cómo?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3492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349240" cy="118872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spc="150">
                <a:solidFill>
                  <a:srgbClr val="1A9A8E"/>
                </a:solidFill>
                <a:latin typeface="Calibri"/>
              </a:rPr>
              <a:t>QUÉ PROBAMOS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•  Lógica de negocio de los servicios (backend)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•  Componentes UI y capa HTTP/API (frontend)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•  Flujos completos de usuario (E2E)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83080"/>
            <a:ext cx="5148072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148072" cy="118872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spc="150">
                <a:solidFill>
                  <a:srgbClr val="1A9A8E"/>
                </a:solidFill>
                <a:latin typeface="Calibri"/>
              </a:rPr>
              <a:t>TÉCNICAS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•  Caja negra · Partición de equivalencia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•  Valores límite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•  Mocking de dependencias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23360"/>
            <a:ext cx="2484882" cy="1783080"/>
          </a:xfrm>
          <a:prstGeom prst="roundRect">
            <a:avLst/>
          </a:prstGeom>
          <a:gradFill rotWithShape="1">
            <a:gsLst>
              <a:gs pos="0">
                <a:srgbClr val="1E4F7A"/>
              </a:gs>
              <a:gs pos="100000">
                <a:srgbClr val="1E3A5F"/>
              </a:gs>
            </a:gsLst>
            <a:lin ang="5400000" scaled="1"/>
          </a:gradFill>
          <a:ln>
            <a:noFill/>
          </a:ln>
          <a:effectLst>
            <a:outerShdw blurRad="139700" dist="50800" dir="5400000" rotWithShape="0">
              <a:srgbClr val="0F244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08201" y="4279392"/>
            <a:ext cx="640080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407408"/>
            <a:ext cx="248488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139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A8C4E0"/>
                </a:solidFill>
                <a:latin typeface="Calibri"/>
              </a:rPr>
              <a:t>Unitarias backend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3290" y="4023360"/>
            <a:ext cx="2484882" cy="1783080"/>
          </a:xfrm>
          <a:prstGeom prst="roundRect">
            <a:avLst/>
          </a:prstGeom>
          <a:gradFill rotWithShape="1">
            <a:gsLst>
              <a:gs pos="0">
                <a:srgbClr val="1E4F7A"/>
              </a:gs>
              <a:gs pos="100000">
                <a:srgbClr val="1E3A5F"/>
              </a:gs>
            </a:gsLst>
            <a:lin ang="5400000" scaled="1"/>
          </a:gradFill>
          <a:ln>
            <a:noFill/>
          </a:ln>
          <a:effectLst>
            <a:outerShdw blurRad="139700" dist="50800" dir="5400000" rotWithShape="0">
              <a:srgbClr val="0F244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5691" y="4279392"/>
            <a:ext cx="640080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3290" y="4407408"/>
            <a:ext cx="248488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120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A8C4E0"/>
                </a:solidFill>
                <a:latin typeface="Calibri"/>
              </a:rPr>
              <a:t>Unitarias frontend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023360"/>
            <a:ext cx="2484882" cy="1783080"/>
          </a:xfrm>
          <a:prstGeom prst="roundRect">
            <a:avLst/>
          </a:prstGeom>
          <a:gradFill rotWithShape="1">
            <a:gsLst>
              <a:gs pos="0">
                <a:srgbClr val="1E4F7A"/>
              </a:gs>
              <a:gs pos="100000">
                <a:srgbClr val="1E3A5F"/>
              </a:gs>
            </a:gsLst>
            <a:lin ang="5400000" scaled="1"/>
          </a:gradFill>
          <a:ln>
            <a:noFill/>
          </a:ln>
          <a:effectLst>
            <a:outerShdw blurRad="139700" dist="50800" dir="5400000" rotWithShape="0">
              <a:srgbClr val="0F244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63181" y="4279392"/>
            <a:ext cx="640080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0780" y="4407408"/>
            <a:ext cx="248488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17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A8C4E0"/>
                </a:solidFill>
                <a:latin typeface="Calibri"/>
              </a:rPr>
              <a:t>E2E Playwright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8270" y="4023360"/>
            <a:ext cx="2484882" cy="1783080"/>
          </a:xfrm>
          <a:prstGeom prst="roundRect">
            <a:avLst/>
          </a:prstGeom>
          <a:gradFill rotWithShape="1">
            <a:gsLst>
              <a:gs pos="0">
                <a:srgbClr val="1E4F7A"/>
              </a:gs>
              <a:gs pos="100000">
                <a:srgbClr val="1E3A5F"/>
              </a:gs>
            </a:gsLst>
            <a:lin ang="5400000" scaled="1"/>
          </a:gradFill>
          <a:ln>
            <a:noFill/>
          </a:ln>
          <a:effectLst>
            <a:outerShdw blurRad="139700" dist="50800" dir="5400000" rotWithShape="0">
              <a:srgbClr val="0F244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40671" y="4279392"/>
            <a:ext cx="640080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8270" y="4407408"/>
            <a:ext cx="248488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276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A8C4E0"/>
                </a:solidFill>
                <a:latin typeface="Calibri"/>
              </a:rPr>
              <a:t>Total · 100% verde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HERRAMIENTA UNITARIA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Jest — pruebas unitarias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Test runner + assertions + mocks en un solo paquete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Soporte TypeScript (ts-jest en backend, babel-jest en frontend)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Entorno jsdom para simular el navegador en el frontend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Repositorios TypeORM mockeados → servicios aislados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Reportes de cobertura integrados (--coverage)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Se ejecuta en CI en cada push (job Jest Unit Tests)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HERRAMIENTA E2E · ENTREGA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Playwright — pruebas de interfaz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3492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349240" cy="118872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spc="130">
                <a:solidFill>
                  <a:srgbClr val="1A9A8E"/>
                </a:solidFill>
                <a:latin typeface="Calibri"/>
              </a:rPr>
              <a:t>QUÉ ES Y CÓMO LO USAMOS</a:t>
            </a:r>
          </a:p>
          <a:p>
            <a:pPr algn="l">
              <a:spcAft>
                <a:spcPts val="85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Automatiza un navegador real (Chromium) headless</a:t>
            </a:r>
          </a:p>
          <a:p>
            <a:pPr algn="l">
              <a:spcAft>
                <a:spcPts val="85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Simula al usuario: clics, formularios, navegación</a:t>
            </a:r>
          </a:p>
          <a:p>
            <a:pPr algn="l">
              <a:spcAft>
                <a:spcPts val="85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Selectores estables con data-testid</a:t>
            </a:r>
          </a:p>
          <a:p>
            <a:pPr algn="l">
              <a:spcAft>
                <a:spcPts val="85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Auto-waiting → menos tests intermitentes</a:t>
            </a:r>
          </a:p>
          <a:p>
            <a:pPr algn="l">
              <a:spcAft>
                <a:spcPts val="85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BASE_URL por variable de entorno (no hardcode)</a:t>
            </a:r>
          </a:p>
          <a:p>
            <a:pPr algn="l">
              <a:spcAft>
                <a:spcPts val="85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Reporte HTML + trace + screenshots en fallos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148072" cy="4160520"/>
          </a:xfrm>
          <a:prstGeom prst="roundRect">
            <a:avLst/>
          </a:prstGeom>
          <a:gradFill rotWithShape="1">
            <a:gsLst>
              <a:gs pos="0">
                <a:srgbClr val="1E4F7A"/>
              </a:gs>
              <a:gs pos="100000">
                <a:srgbClr val="1E3A5F"/>
              </a:gs>
            </a:gsLst>
            <a:lin ang="4200000" scaled="1"/>
          </a:gradFill>
          <a:ln>
            <a:noFill/>
          </a:ln>
          <a:effectLst>
            <a:outerShdw blurRad="152400" dist="50800" dir="5400000" rotWithShape="0">
              <a:srgbClr val="0F244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spc="130">
                <a:solidFill>
                  <a:srgbClr val="2EC4B6"/>
                </a:solidFill>
                <a:latin typeface="Calibri"/>
              </a:rPr>
              <a:t>¿POR QUÉ PLAYWRIGHT Y NO SELENIUM?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✓  Mismo ecosistema JS/TS del proyecto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✓  Headless nativo, ideal para CI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✓  Reportes y trazas integrados sin plugins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✓  Auto-waiting reduce la fragilidad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✓  Era una alternativa permitida por el enunciado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COBERTURA E2E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Los 17 flujos críticos automatizados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74519"/>
          <a:ext cx="10817352" cy="3867912"/>
        </p:xfrm>
        <a:graphic>
          <a:graphicData uri="http://schemas.openxmlformats.org/drawingml/2006/table">
            <a:tbl>
              <a:tblPr bandRow="0" firstRow="0">
                <a:tableStyleId>{5C22544A-7EE6-4342-B048-85BDC9FD1C3A}</a:tableStyleId>
              </a:tblPr>
              <a:tblGrid>
                <a:gridCol w="3291840"/>
                <a:gridCol w="1280160"/>
                <a:gridCol w="6245352"/>
              </a:tblGrid>
              <a:tr h="48348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Flujo</a:t>
                      </a:r>
                    </a:p>
                  </a:txBody>
                  <a:tcPr anchor="ctr" marL="18288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Casos</a:t>
                      </a:r>
                    </a:p>
                  </a:txBody>
                  <a:tcPr anchor="ctr" marL="18288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Qué valida</a:t>
                      </a:r>
                    </a:p>
                  </a:txBody>
                  <a:tcPr anchor="ctr" marL="182880">
                    <a:solidFill>
                      <a:srgbClr val="1E3A5F"/>
                    </a:solidFill>
                  </a:tcPr>
                </a:tc>
              </a:tr>
              <a:tr h="48348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Autenticación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9A8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Login válido / inválido, registro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</a:tr>
              <a:tr h="48348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Navegación / guards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9A8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Ruta protegida redirige a login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</a:tr>
              <a:tr h="48348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Crear oportunidad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9A8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Creación y validación de campos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</a:tr>
              <a:tr h="48348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Editar / Eliminar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9A8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Carga datos, guarda, elimina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</a:tr>
              <a:tr h="48348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Listar / Detalle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9A8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Listado, detalle y badge de estado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</a:tr>
              <a:tr h="48348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Búsqueda y filtro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9A8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Por texto, por tipo, limpiar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</a:tr>
              <a:tr h="48348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Postular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9A8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Estudiante postula con éxito</a:t>
                      </a:r>
                    </a:p>
                  </a:txBody>
                  <a:tcPr anchor="ctr" marL="18288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INTEGRACIÓN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El pipeline en GitHub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2103120" cy="1691640"/>
          </a:xfrm>
          <a:prstGeom prst="roundRect">
            <a:avLst/>
          </a:prstGeom>
          <a:gradFill rotWithShape="1">
            <a:gsLst>
              <a:gs pos="0">
                <a:srgbClr val="1E4F7A"/>
              </a:gs>
              <a:gs pos="100000">
                <a:srgbClr val="1E3A5F"/>
              </a:gs>
            </a:gsLst>
            <a:lin ang="5400000" scaled="1"/>
          </a:gradFill>
          <a:ln>
            <a:noFill/>
          </a:ln>
          <a:effectLst>
            <a:outerShdw blurRad="114300" dist="38100" dir="5400000" rotWithShape="0">
              <a:srgbClr val="0F24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4168" y="228600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Backend build</a:t>
            </a:r>
          </a:p>
          <a:p>
            <a:pPr algn="ctr">
              <a:spcAft>
                <a:spcPts val="600"/>
              </a:spcAft>
            </a:pPr>
            <a:r>
              <a:rPr sz="1050" b="0">
                <a:solidFill>
                  <a:srgbClr val="A8C4E0"/>
                </a:solidFill>
                <a:latin typeface="Calibri"/>
              </a:rPr>
              <a:t>Type-check (tsc)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269748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3784" y="2148840"/>
            <a:ext cx="2103120" cy="1691640"/>
          </a:xfrm>
          <a:prstGeom prst="roundRect">
            <a:avLst/>
          </a:prstGeom>
          <a:gradFill rotWithShape="1">
            <a:gsLst>
              <a:gs pos="0">
                <a:srgbClr val="1E4F7A"/>
              </a:gs>
              <a:gs pos="100000">
                <a:srgbClr val="1E3A5F"/>
              </a:gs>
            </a:gsLst>
            <a:lin ang="5400000" scaled="1"/>
          </a:gradFill>
          <a:ln>
            <a:noFill/>
          </a:ln>
          <a:effectLst>
            <a:outerShdw blurRad="114300" dist="38100" dir="5400000" rotWithShape="0">
              <a:srgbClr val="0F24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39311" y="228600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292608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Frontend build</a:t>
            </a:r>
          </a:p>
          <a:p>
            <a:pPr algn="ctr">
              <a:spcAft>
                <a:spcPts val="600"/>
              </a:spcAft>
            </a:pPr>
            <a:r>
              <a:rPr sz="1050" b="0">
                <a:solidFill>
                  <a:srgbClr val="A8C4E0"/>
                </a:solidFill>
                <a:latin typeface="Calibri"/>
              </a:rPr>
              <a:t>Type-check +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69748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7" y="2148840"/>
            <a:ext cx="2103120" cy="1691640"/>
          </a:xfrm>
          <a:prstGeom prst="roundRect">
            <a:avLst/>
          </a:prstGeom>
          <a:gradFill rotWithShape="1">
            <a:gsLst>
              <a:gs pos="0">
                <a:srgbClr val="1E4F7A"/>
              </a:gs>
              <a:gs pos="100000">
                <a:srgbClr val="1E3A5F"/>
              </a:gs>
            </a:gsLst>
            <a:lin ang="5400000" scaled="1"/>
          </a:gradFill>
          <a:ln>
            <a:noFill/>
          </a:ln>
          <a:effectLst>
            <a:outerShdw blurRad="114300" dist="38100" dir="5400000" rotWithShape="0">
              <a:srgbClr val="0F24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34455" y="228600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7" y="292608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Jest</a:t>
            </a:r>
          </a:p>
          <a:p>
            <a:pPr algn="ctr">
              <a:spcAft>
                <a:spcPts val="600"/>
              </a:spcAft>
            </a:pPr>
            <a:r>
              <a:rPr sz="1050" b="0">
                <a:solidFill>
                  <a:srgbClr val="A8C4E0"/>
                </a:solidFill>
                <a:latin typeface="Calibri"/>
              </a:rPr>
              <a:t>Unitarias +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269748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34071" y="2148840"/>
            <a:ext cx="2103120" cy="1691640"/>
          </a:xfrm>
          <a:prstGeom prst="roundRect">
            <a:avLst/>
          </a:prstGeom>
          <a:gradFill rotWithShape="1">
            <a:gsLst>
              <a:gs pos="0">
                <a:srgbClr val="2EC4B6"/>
              </a:gs>
              <a:gs pos="100000">
                <a:srgbClr val="1A9A8E"/>
              </a:gs>
            </a:gsLst>
            <a:lin ang="5400000" scaled="1"/>
          </a:gradFill>
          <a:ln>
            <a:noFill/>
          </a:ln>
          <a:effectLst>
            <a:outerShdw blurRad="114300" dist="38100" dir="5400000" rotWithShape="0">
              <a:srgbClr val="0F24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2286000"/>
            <a:ext cx="512064" cy="512064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1" y="292608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Playwright E2E</a:t>
            </a:r>
          </a:p>
          <a:p>
            <a:pPr algn="ctr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Levanta app + 17 E2E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8904" y="269748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9215" y="2148840"/>
            <a:ext cx="2103120" cy="1691640"/>
          </a:xfrm>
          <a:prstGeom prst="roundRect">
            <a:avLst/>
          </a:prstGeom>
          <a:gradFill rotWithShape="1">
            <a:gsLst>
              <a:gs pos="0">
                <a:srgbClr val="1E4F7A"/>
              </a:gs>
              <a:gs pos="100000">
                <a:srgbClr val="1E3A5F"/>
              </a:gs>
            </a:gsLst>
            <a:lin ang="5400000" scaled="1"/>
          </a:gradFill>
          <a:ln>
            <a:noFill/>
          </a:ln>
          <a:effectLst>
            <a:outerShdw blurRad="114300" dist="38100" dir="5400000" rotWithShape="0">
              <a:srgbClr val="0F24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24744" y="228600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0655" y="292608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Discord</a:t>
            </a:r>
          </a:p>
          <a:p>
            <a:pPr algn="ctr">
              <a:spcAft>
                <a:spcPts val="600"/>
              </a:spcAft>
            </a:pPr>
            <a:r>
              <a:rPr sz="1050" b="0">
                <a:solidFill>
                  <a:srgbClr val="A8C4E0"/>
                </a:solidFill>
                <a:latin typeface="Calibri"/>
              </a:rPr>
              <a:t>Notifica éxito / fallo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206240"/>
            <a:ext cx="10817352" cy="17830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4206240"/>
            <a:ext cx="118872" cy="178308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38912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Se dispara en cada push a develop/main y en cada PR a main.</a:t>
            </a:r>
          </a:p>
          <a:p>
            <a:pPr algn="l">
              <a:spcAft>
                <a:spcPts val="700"/>
              </a:spcAft>
            </a:pPr>
            <a:r>
              <a:rPr sz="1450" b="1">
                <a:solidFill>
                  <a:srgbClr val="1E3A5F"/>
                </a:solidFill>
                <a:latin typeface="Calibri"/>
              </a:rPr>
              <a:t>⚠  El pipeline FALLA si falla cualquier prueba E2E.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Evidencia: el reporte HTML de Playwright se sube como artefacto (14 días) y se guardan screenshots en cada fallo.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3A5F"/>
            </a:gs>
            <a:gs pos="100000">
              <a:srgbClr val="0F2440"/>
            </a:gs>
          </a:gsLst>
          <a:lin ang="33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463040"/>
            <a:ext cx="5120640" cy="5120640"/>
          </a:xfrm>
          <a:prstGeom prst="ellipse">
            <a:avLst/>
          </a:prstGeom>
          <a:solidFill>
            <a:srgbClr val="2EC4B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297680"/>
            <a:ext cx="3108960" cy="3108960"/>
          </a:xfrm>
          <a:prstGeom prst="ellipse">
            <a:avLst/>
          </a:prstGeom>
          <a:solidFill>
            <a:srgbClr val="2EC4B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023360"/>
            <a:ext cx="3291840" cy="3291840"/>
          </a:xfrm>
          <a:prstGeom prst="ellipse">
            <a:avLst/>
          </a:prstGeom>
          <a:solidFill>
            <a:srgbClr val="1E4F7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5486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0" b="1">
                <a:solidFill>
                  <a:srgbClr val="1E4F7A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00400"/>
            <a:ext cx="1737360" cy="12801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Demostración en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A8C4E0"/>
                </a:solidFill>
                <a:latin typeface="Calibri"/>
              </a:rPr>
              <a:t>El sistema funcionando y las pruebas en acción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A8C4E0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A8C4E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DEMOSTRACIÓN · PASO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Registro e inicio de sesión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126480" cy="42976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A8C4E0"/>
            </a:solidFill>
          </a:ln>
          <a:effectLst>
            <a:outerShdw blurRad="127000" dist="38100" dir="5400000" rotWithShape="0">
              <a:srgbClr val="0F2440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4200" b="0">
                <a:solidFill>
                  <a:srgbClr val="64748B"/>
                </a:solidFill>
                <a:latin typeface="Calibri"/>
              </a:rPr>
              <a:t>📸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Pantalla de login / registro con usuario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828800"/>
            <a:ext cx="4416552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0" y="1828800"/>
            <a:ext cx="118872" cy="429768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011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00">
                <a:solidFill>
                  <a:srgbClr val="1A9A8E"/>
                </a:solidFill>
                <a:latin typeface="Calibri"/>
              </a:rPr>
              <a:t>NARRATIVA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0" y="2542032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4871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Mostrar el registro con validaciones (email inválido, campo vacío)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3383279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3328415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Iniciar sesión con un usuario preconfigurado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4224528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416966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El JWT se guarda y acompaña a cada petición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DEMOSTRACIÓN · PASO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Explorar, buscar y filtrar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126480" cy="42976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A8C4E0"/>
            </a:solidFill>
          </a:ln>
          <a:effectLst>
            <a:outerShdw blurRad="127000" dist="38100" dir="5400000" rotWithShape="0">
              <a:srgbClr val="0F2440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4200" b="0">
                <a:solidFill>
                  <a:srgbClr val="64748B"/>
                </a:solidFill>
                <a:latin typeface="Calibri"/>
              </a:rPr>
              <a:t>📸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Listado de oportunidades + barra de búsqueda con filtro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828800"/>
            <a:ext cx="4416552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0" y="1828800"/>
            <a:ext cx="118872" cy="429768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011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00">
                <a:solidFill>
                  <a:srgbClr val="1A9A8E"/>
                </a:solidFill>
                <a:latin typeface="Calibri"/>
              </a:rPr>
              <a:t>NARRATIVA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0" y="2542032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4871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Listado con oportunidades ya cargadas (no vacío)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3383279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3328415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Filtrar por tipo: seleccionar 'TUTORIA'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4224528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416966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Buscar por texto: escribir 'matemáticas'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0" y="5065776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50109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Botones Editar/Eliminar solo en cards propias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DEMOSTRACIÓN · PASO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Crear una nueva oportunidad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126480" cy="42976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A8C4E0"/>
            </a:solidFill>
          </a:ln>
          <a:effectLst>
            <a:outerShdw blurRad="127000" dist="38100" dir="5400000" rotWithShape="0">
              <a:srgbClr val="0F2440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4200" b="0">
                <a:solidFill>
                  <a:srgbClr val="64748B"/>
                </a:solidFill>
                <a:latin typeface="Calibri"/>
              </a:rPr>
              <a:t>📸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Formulario de creación con todos los campos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828800"/>
            <a:ext cx="4416552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0" y="1828800"/>
            <a:ext cx="118872" cy="429768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011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00">
                <a:solidFill>
                  <a:srgbClr val="1A9A8E"/>
                </a:solidFill>
                <a:latin typeface="Calibri"/>
              </a:rPr>
              <a:t>NARRATIVA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0" y="2542032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4871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Completar el formulario con datos realistas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3383279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3328415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Mostrar la validación de campos obligatorios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4224528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416966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Guardar y ver que aparece en el listado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DEMOSTRACIÓN · PASO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Funcionalidades nuevas (E2/E3)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126480" cy="42976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A8C4E0"/>
            </a:solidFill>
          </a:ln>
          <a:effectLst>
            <a:outerShdw blurRad="127000" dist="38100" dir="5400000" rotWithShape="0">
              <a:srgbClr val="0F2440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4200" b="0">
                <a:solidFill>
                  <a:srgbClr val="64748B"/>
                </a:solidFill>
                <a:latin typeface="Calibri"/>
              </a:rPr>
              <a:t>📸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Notificaciones, favoritos y panel de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828800"/>
            <a:ext cx="4416552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0" y="1828800"/>
            <a:ext cx="118872" cy="429768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011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00">
                <a:solidFill>
                  <a:srgbClr val="1A9A8E"/>
                </a:solidFill>
                <a:latin typeface="Calibri"/>
              </a:rPr>
              <a:t>NARRATIVA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0" y="2542032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4871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Postular y ver la notificación generada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3383279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3328415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Guardar una oportunidad en favoritos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4224528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416966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Gestionar postulantes y dejar feedback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0" y="5065776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50109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Vista de administración (suspender / bloquear)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DEMOSTRACIÓN · PASO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Las pruebas E2E en acción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126480" cy="42976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A8C4E0"/>
            </a:solidFill>
          </a:ln>
          <a:effectLst>
            <a:outerShdw blurRad="127000" dist="38100" dir="5400000" rotWithShape="0">
              <a:srgbClr val="0F2440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4200" b="0">
                <a:solidFill>
                  <a:srgbClr val="64748B"/>
                </a:solidFill>
                <a:latin typeface="Calibri"/>
              </a:rPr>
              <a:t>📸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Terminal con los 17 E2E en verde + reporte Playwright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828800"/>
            <a:ext cx="4416552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0" y="1828800"/>
            <a:ext cx="118872" cy="429768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011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00">
                <a:solidFill>
                  <a:srgbClr val="1A9A8E"/>
                </a:solidFill>
                <a:latin typeface="Calibri"/>
              </a:rPr>
              <a:t>NARRATIVA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0" y="2542032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4871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Ejecutar 'npx playwright test' en la terminal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3383279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3328415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Ver los 17 tests corriendo en headless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4224528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416966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Abrir el reporte HTML de Playwright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0" y="5065776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50109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Mostrar un trace de una ejecución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DEMOSTRACIÓN · PASO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El pipeline y la notificación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126480" cy="42976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A8C4E0"/>
            </a:solidFill>
          </a:ln>
          <a:effectLst>
            <a:outerShdw blurRad="127000" dist="38100" dir="5400000" rotWithShape="0">
              <a:srgbClr val="0F2440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4200" b="0">
                <a:solidFill>
                  <a:srgbClr val="64748B"/>
                </a:solidFill>
                <a:latin typeface="Calibri"/>
              </a:rPr>
              <a:t>📸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GitHub Actions (5 jobs en verde) + alerta en Discord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828800"/>
            <a:ext cx="4416552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0" y="1828800"/>
            <a:ext cx="118872" cy="429768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011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00">
                <a:solidFill>
                  <a:srgbClr val="1A9A8E"/>
                </a:solidFill>
                <a:latin typeface="Calibri"/>
              </a:rPr>
              <a:t>NARRATIVA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0" y="2542032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4871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Mostrar el run en GitHub Actions en verde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3383279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3328415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Descargar el artefacto del reporte E2E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4224528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416966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Mostrar el mensaje de estado en Discord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0" y="5065776"/>
            <a:ext cx="384048" cy="384048"/>
          </a:xfrm>
          <a:prstGeom prst="ellipse">
            <a:avLst/>
          </a:prstGeom>
          <a:solidFill>
            <a:srgbClr val="2EC4B6"/>
          </a:solidFill>
          <a:ln>
            <a:noFill/>
          </a:ln>
          <a:effectLst>
            <a:outerShdw blurRad="76200" dist="25400" dir="5400000" rotWithShape="0">
              <a:srgbClr val="1A9A8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50109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Plan B: capturas de respaldo por si falla la 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3A5F"/>
            </a:gs>
            <a:gs pos="100000">
              <a:srgbClr val="0F2440"/>
            </a:gs>
          </a:gsLst>
          <a:lin ang="33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463040"/>
            <a:ext cx="5120640" cy="5120640"/>
          </a:xfrm>
          <a:prstGeom prst="ellipse">
            <a:avLst/>
          </a:prstGeom>
          <a:solidFill>
            <a:srgbClr val="2EC4B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297680"/>
            <a:ext cx="3108960" cy="3108960"/>
          </a:xfrm>
          <a:prstGeom prst="ellipse">
            <a:avLst/>
          </a:prstGeom>
          <a:solidFill>
            <a:srgbClr val="2EC4B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023360"/>
            <a:ext cx="3291840" cy="3291840"/>
          </a:xfrm>
          <a:prstGeom prst="ellipse">
            <a:avLst/>
          </a:prstGeom>
          <a:solidFill>
            <a:srgbClr val="1E4F7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5486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0" b="1">
                <a:solidFill>
                  <a:srgbClr val="1E4F7A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00400"/>
            <a:ext cx="1737360" cy="12801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Reflexión del equipo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A8C4E0"/>
                </a:solidFill>
                <a:latin typeface="Calibri"/>
              </a:rPr>
              <a:t>Lo aprendido, las dificultades y las decisiones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A8C4E0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A8C4E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REFLEXIÓN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Balance del proyecto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204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520440" cy="621792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250" b="1" spc="100">
                <a:solidFill>
                  <a:srgbClr val="1E3A5F"/>
                </a:solidFill>
                <a:latin typeface="Calibri"/>
              </a:rPr>
              <a:t>LO APRENDIDO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06040"/>
            <a:ext cx="303580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2EC4B6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El E2E atrapa errores que el unitario no ve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2EC4B6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Las variables de entorno bien definidas son críticas en CI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2EC4B6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Selectores estables (data-testid) = tests robustos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2EC4B6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Probar en CI revela problemas que en local no aparecen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5204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520440" cy="621792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250" b="1" spc="100">
                <a:solidFill>
                  <a:srgbClr val="1E3A5F"/>
                </a:solidFill>
                <a:latin typeface="Calibri"/>
              </a:rPr>
              <a:t>DIFICULTADES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606040"/>
            <a:ext cx="303580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2EC4B6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Levantar app + DB + navegador estable en CI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2EC4B6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Sincronizar tipos entre frontend y backend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2EC4B6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Evitar tests intermitentes (flaky)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2EC4B6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Datos de prueba consistentes entre ejecuciones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828800"/>
            <a:ext cx="35204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5320" y="1828800"/>
            <a:ext cx="3520440" cy="621792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250" b="1" spc="100">
                <a:solidFill>
                  <a:srgbClr val="1E3A5F"/>
                </a:solidFill>
                <a:latin typeface="Calibri"/>
              </a:rPr>
              <a:t>DECISIONES CLAVE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2606040"/>
            <a:ext cx="303580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2EC4B6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Playwright en vez de Selenium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2EC4B6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GitHub Actions en vez de Jenkins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2EC4B6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Discord en vez de Slack para alertas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2EC4B6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El pipeline falla si falla un E2E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CASO REAL DE LA ENTREGA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Un problema que resolvimos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0817352" cy="1298448"/>
          </a:xfrm>
          <a:prstGeom prst="roundRect">
            <a:avLst/>
          </a:prstGeom>
          <a:solidFill>
            <a:srgbClr val="F8FAFC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18872" cy="129844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75104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spc="150">
                <a:solidFill>
                  <a:srgbClr val="1A9A8E"/>
                </a:solidFill>
                <a:latin typeface="Calibri"/>
              </a:rPr>
              <a:t>EL SÍNTOMA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El job de E2E fallaba en CI aunque los tests pasaban en local.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91840"/>
            <a:ext cx="10817352" cy="1298448"/>
          </a:xfrm>
          <a:prstGeom prst="roundRect">
            <a:avLst/>
          </a:prstGeom>
          <a:solidFill>
            <a:srgbClr val="F8FAFC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291840"/>
            <a:ext cx="118872" cy="129844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38144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spc="150">
                <a:solidFill>
                  <a:srgbClr val="1A9A8E"/>
                </a:solidFill>
                <a:latin typeface="Calibri"/>
              </a:rPr>
              <a:t>LA CAUSA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El health-check del pipeline esperaba respuesta de GET /api, que devuelve 404 porque no existe esa ruta raíz. La herramienta de espera solo acepta 2xx, así que expiraba y mataba el job — aunque el backend estaba sano.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54880"/>
            <a:ext cx="10817352" cy="1298448"/>
          </a:xfrm>
          <a:prstGeom prst="roundRect">
            <a:avLst/>
          </a:prstGeom>
          <a:solidFill>
            <a:srgbClr val="F8FAFC"/>
          </a:solidFill>
          <a:ln>
            <a:noFill/>
          </a:ln>
          <a:effectLst>
            <a:outerShdw blurRad="139700" dist="50800" dir="5400000" rotWithShape="0">
              <a:srgbClr val="0F244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754880"/>
            <a:ext cx="118872" cy="129844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901184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spc="150">
                <a:solidFill>
                  <a:srgbClr val="1A9A8E"/>
                </a:solidFill>
                <a:latin typeface="Calibri"/>
              </a:rPr>
              <a:t>LA SOLUCIÓN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1F2A37"/>
                </a:solidFill>
                <a:latin typeface="Calibri"/>
              </a:rPr>
              <a:t>Apuntar la espera a GET /api/opportunities, un endpoint real que responde 200. Pipeline en verde y E2E corriendo de punta a punta.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1E4F7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146304" cy="1463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1168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spc="220">
                <a:solidFill>
                  <a:srgbClr val="2EC4B6"/>
                </a:solidFill>
                <a:latin typeface="Calibri"/>
              </a:rPr>
              <a:t>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0642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¿Qué sigue para CampusLink?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Ampliar la cobertura E2E a admin, notificaciones y chat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Pruebas E2E multi-navegador (Firefox y WebKit)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Regresión visual de las vistas principales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Despliegue automático tras un pipeline en verde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2EC4B6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Métricas de cobertura combinada (unit + E2E) en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3A5F"/>
            </a:gs>
            <a:gs pos="100000">
              <a:srgbClr val="0F2440"/>
            </a:gs>
          </a:gsLst>
          <a:lin ang="36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-1828800"/>
            <a:ext cx="6217920" cy="6217920"/>
          </a:xfrm>
          <a:prstGeom prst="ellipse">
            <a:avLst/>
          </a:prstGeom>
          <a:solidFill>
            <a:srgbClr val="2EC4B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023360"/>
            <a:ext cx="3474720" cy="3474720"/>
          </a:xfrm>
          <a:prstGeom prst="ellipse">
            <a:avLst/>
          </a:prstGeom>
          <a:solidFill>
            <a:srgbClr val="2EC4B6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1E4F7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5800" b="1">
                <a:solidFill>
                  <a:srgbClr val="FFFFFF"/>
                </a:solidFill>
                <a:latin typeface="Calibri"/>
              </a:rPr>
              <a:t>CampusLink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2EC4B6"/>
                </a:solidFill>
                <a:latin typeface="Calibri"/>
              </a:rPr>
              <a:t>Plataforma de Oportunidades Universitarias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43400"/>
            <a:ext cx="7863840" cy="1554480"/>
          </a:xfrm>
          <a:prstGeom prst="roundRect">
            <a:avLst/>
          </a:prstGeom>
          <a:solidFill>
            <a:srgbClr val="0F2440">
              <a:alpha val="55000"/>
            </a:srgbClr>
          </a:solidFill>
          <a:ln>
            <a:noFill/>
          </a:ln>
          <a:effectLst>
            <a:outerShdw blurRad="152400" dist="50800" dir="5400000" rotWithShape="0">
              <a:srgbClr val="0F244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526280"/>
            <a:ext cx="7315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INF331 – Pruebas de Software   ·   Entrega 3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EC4B6"/>
                </a:solidFill>
                <a:latin typeface="Calibri"/>
              </a:rPr>
              <a:t>Pruebas E2E/UI con Playwright integradas al pipeline CI/CD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8C4E0"/>
                </a:solidFill>
                <a:latin typeface="Calibri"/>
              </a:rPr>
              <a:t>José Meza · Matías Barraza · Leonardo Chacón · Aarón Vargas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A8C4E0"/>
                </a:solidFill>
                <a:latin typeface="Calibri"/>
              </a:rPr>
              <a:t>CampusLink · Entrega 3 · INF331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3737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A8C4E0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